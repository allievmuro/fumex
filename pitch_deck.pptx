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800" b="1">
                <a:solidFill>
                  <a:srgbClr val="FDF2F8"/>
                </a:solidFill>
              </a:defRPr>
            </a:pPr>
            <a:r>
              <a:t>FUMEX</a:t>
            </a:r>
          </a:p>
        </p:txBody>
      </p:sp>
      <p:sp>
        <p:nvSpPr>
          <p:cNvPr id="3" name="TextBox 2"/>
          <p:cNvSpPr txBox="1"/>
          <p:nvPr/>
        </p:nvSpPr>
        <p:spPr>
          <a:xfrm>
            <a:off x="1828800" y="3657600"/>
            <a:ext cx="8229600" cy="914400"/>
          </a:xfrm>
          <a:prstGeom prst="rect">
            <a:avLst/>
          </a:prstGeom>
          <a:noFill/>
        </p:spPr>
        <p:txBody>
          <a:bodyPr wrap="square">
            <a:spAutoFit/>
          </a:bodyPr>
          <a:lstStyle/>
          <a:p>
            <a:pPr algn="ctr">
              <a:defRPr sz="2000" b="0">
                <a:solidFill>
                  <a:srgbClr val="BE185D"/>
                </a:solidFill>
              </a:defRPr>
            </a:pPr>
            <a:r>
              <a:t>Simulate any Solana program interaction against a forked mainnet state in under </a:t>
            </a:r>
          </a:p>
        </p:txBody>
      </p:sp>
      <p:sp>
        <p:nvSpPr>
          <p:cNvPr id="4" name="TextBox 3"/>
          <p:cNvSpPr txBox="1"/>
          <p:nvPr/>
        </p:nvSpPr>
        <p:spPr>
          <a:xfrm>
            <a:off x="2743200" y="5943600"/>
            <a:ext cx="6400800" cy="457200"/>
          </a:xfrm>
          <a:prstGeom prst="rect">
            <a:avLst/>
          </a:prstGeom>
          <a:noFill/>
        </p:spPr>
        <p:txBody>
          <a:bodyPr wrap="square">
            <a:spAutoFit/>
          </a:bodyPr>
          <a:lstStyle/>
          <a:p>
            <a:pPr algn="ctr">
              <a:defRPr sz="1100" b="0">
                <a:solidFill>
                  <a:srgbClr val="7A5A6A"/>
                </a:solidFill>
              </a:defRPr>
            </a:pPr>
            <a:r>
              <a:t>Founded by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THE PROBLEM</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Solana developers writing programs with complex CPI call chains — Jupiter aggregator routes, Marginfi collateral checks, Raydium CLMM ticks — have no reliable way to test against real mainnet state locally. Solana's test-validator requires manual account cloning via `--clone` flags, produces non-deterministic slot timing, and silently drops cross-program invocations that depend on live oracle feeds. In 2026, with Solana programs routinely composing across 8-12 protocols in a single transaction, this makes pre-deployment testing a guessing 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OUR SOLUTION</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Fumex snapshots a precise slice of mainnet state — specific accounts, programs, sysvars, and Pyth/Switchboard oracle accounts — into a local validator fork with a single CLI command or SDK call. It intercepts and replays the exact account set required by a transaction's CPI tree, injects deterministic clock and slot values, and streams structured program logs with decoded instruction data and lamport diffs back to the developer's terminal or CI runner. Fumex integrates with Anchor's test harness via a drop-in provider swap and produces a replayable fixture file any teammate can reproduce byte-for-byte.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WHY NOW</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Solana's composability exploded in 2025 — programs now routinely CPI into Drift, Kamino, and Jupiter in a single instruction, and the test-validator tooling hasn't kept pace with that complexity. With Solana's market share of new DeFi deployments at an all-time high in 2026, the pain of broken devnet tests is costing teams days per sprint and the ecosystem has no dedicated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KEY FEATURES</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 One-command mainnet state snapshot: `fumex fork --tx &lt;sig&gt;` clones every account touched by a transaction's full CPI tree</a:t>
            </a:r>
            <a:br/>
            <a:r>
              <a:t>• Deterministic clock injection — pin slot, epoch, and unix_timestamp so time-sensitive programs behave identically across runs</a:t>
            </a:r>
            <a:br/>
            <a:r>
              <a:t>• Structured CPI trace output: decoded instruction names, account roles, lamport deltas, and return data per invocation level</a:t>
            </a:r>
            <a:br/>
            <a:r>
              <a:t>• Anchor provider drop-in: replace `AnchorProvider.env()` with `FumexProvider.fork()` — zero other test changes required</a:t>
            </a:r>
            <a:br/>
            <a:r>
              <a:t>• Replayable fixture files: serialized account snapshots committed to the repo so any CI runner reproduces the exact state without a live RPC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TRACTION &amp; METRICS</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Building in public. Metrics coming soon.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TECH STACK</a:t>
            </a:r>
          </a:p>
        </p:txBody>
      </p:sp>
      <p:sp>
        <p:nvSpPr>
          <p:cNvPr id="3" name="TextBox 2"/>
          <p:cNvSpPr txBox="1"/>
          <p:nvPr/>
        </p:nvSpPr>
        <p:spPr>
          <a:xfrm>
            <a:off x="731520" y="2286000"/>
            <a:ext cx="9144000" cy="2743200"/>
          </a:xfrm>
          <a:prstGeom prst="rect">
            <a:avLst/>
          </a:prstGeom>
          <a:noFill/>
        </p:spPr>
        <p:txBody>
          <a:bodyPr wrap="square">
            <a:spAutoFit/>
          </a:bodyPr>
          <a:lstStyle/>
          <a:p>
            <a:pPr algn="l">
              <a:defRPr sz="2000" b="0">
                <a:solidFill>
                  <a:srgbClr val="BE185D"/>
                </a:solidFill>
              </a:defRPr>
            </a:pPr>
            <a:r>
              <a:t>Rust • Solana test-validator • Anchor test harness provider API • Solana JSON-RPC getMultipleAccounts / getProgramAccounts • BPF Loader v2/v3 program introspection • Pyth Network on-chain price feeds • Switchboard V2 oracle accounts • TypeScript SDK • Node.js CLI (Commander.js) • GitHub Actions runner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731520" y="457200"/>
            <a:ext cx="9144000" cy="914400"/>
          </a:xfrm>
          <a:prstGeom prst="rect">
            <a:avLst/>
          </a:prstGeom>
          <a:noFill/>
        </p:spPr>
        <p:txBody>
          <a:bodyPr wrap="square">
            <a:spAutoFit/>
          </a:bodyPr>
          <a:lstStyle/>
          <a:p>
            <a:pPr algn="l">
              <a:defRPr sz="4200" b="1">
                <a:solidFill>
                  <a:srgbClr val="FDF2F8"/>
                </a:solidFill>
              </a:defRPr>
            </a:pPr>
            <a:r>
              <a:t>ROADMAP</a:t>
            </a:r>
          </a:p>
        </p:txBody>
      </p:sp>
      <p:sp>
        <p:nvSpPr>
          <p:cNvPr id="3" name="TextBox 2"/>
          <p:cNvSpPr txBox="1"/>
          <p:nvPr/>
        </p:nvSpPr>
        <p:spPr>
          <a:xfrm>
            <a:off x="731520" y="1645920"/>
            <a:ext cx="9144000" cy="3657600"/>
          </a:xfrm>
          <a:prstGeom prst="rect">
            <a:avLst/>
          </a:prstGeom>
          <a:noFill/>
        </p:spPr>
        <p:txBody>
          <a:bodyPr wrap="square">
            <a:spAutoFit/>
          </a:bodyPr>
          <a:lstStyle/>
          <a:p>
            <a:pPr algn="l">
              <a:defRPr sz="1800" b="0">
                <a:solidFill>
                  <a:srgbClr val="7A5A6A"/>
                </a:solidFill>
              </a:defRPr>
            </a:pPr>
            <a:r>
              <a:t>• Q1 2026: Ship a working CLI that forks mainnet state from a transaction signature and runs a local validator with the resolved account set.</a:t>
            </a:r>
            <a:br/>
            <a:r>
              <a:t>• Q2 2026: Release the TypeScript SDK with Anchor provider drop-in and replayable fixture file support for CI pipelines.</a:t>
            </a:r>
            <a:br/>
            <a:r>
              <a:t>• Q3 2026: Add protocol-aware account resolvers for Jupiter, Kamino, Drift, and Marginfi and launch a hosted snapshot cache to reduce RPC load.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0A0F"/>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400" b="1">
                <a:solidFill>
                  <a:srgbClr val="FDF2F8"/>
                </a:solidFill>
              </a:defRPr>
            </a:pPr>
            <a:r>
              <a:t>BUILD WITH FUMEX</a:t>
            </a:r>
          </a:p>
        </p:txBody>
      </p:sp>
      <p:sp>
        <p:nvSpPr>
          <p:cNvPr id="3" name="TextBox 2"/>
          <p:cNvSpPr txBox="1"/>
          <p:nvPr/>
        </p:nvSpPr>
        <p:spPr>
          <a:xfrm>
            <a:off x="1828800" y="3840480"/>
            <a:ext cx="8229600" cy="914400"/>
          </a:xfrm>
          <a:prstGeom prst="rect">
            <a:avLst/>
          </a:prstGeom>
          <a:noFill/>
        </p:spPr>
        <p:txBody>
          <a:bodyPr wrap="square">
            <a:spAutoFit/>
          </a:bodyPr>
          <a:lstStyle/>
          <a:p>
            <a:pPr algn="ctr">
              <a:defRPr sz="2000" b="0">
                <a:solidFill>
                  <a:srgbClr val="BE185D"/>
                </a:solidFill>
              </a:defRPr>
            </a:pPr>
            <a:r>
              <a:t>Simulate any Solana program interaction against a forked mainnet state in under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